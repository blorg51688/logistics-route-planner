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57" r:id="rId6"/>
    <p:sldId id="261" r:id="rId7"/>
    <p:sldId id="262" r:id="rId8"/>
    <p:sldId id="263" r:id="rId9"/>
    <p:sldId id="264" r:id="rId10"/>
    <p:sldId id="274" r:id="rId11"/>
    <p:sldId id="275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7310" autoAdjust="0"/>
  </p:normalViewPr>
  <p:slideViewPr>
    <p:cSldViewPr>
      <p:cViewPr varScale="1">
        <p:scale>
          <a:sx n="110" d="100"/>
          <a:sy n="110" d="100"/>
        </p:scale>
        <p:origin x="103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25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6667C-86A4-408F-807C-A898DF37D62D}" type="datetimeFigureOut">
              <a:rPr lang="zh-CN" altLang="en-US" smtClean="0"/>
              <a:pPr/>
              <a:t>2026/9/10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BBA6E-9A7A-4C44-BF7D-5E87097C2A2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759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001E8-7C94-42FB-B0F9-31C0EBBEDF99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FED36-18D6-4AA9-A310-800F49E94CF2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2260-0AC3-4E31-A7DB-FA4504840307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ABCEA-B012-4DB4-A21F-D304F7F10449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39988-82AE-4E42-92C6-0FB026D73E1A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B6683-23F0-4AFF-A365-1A8C3A4094F5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D03CE-7905-477D-B256-ADE7F9C1FE42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988D3-5748-41BB-B5E0-C493DE1452BB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A6ADB-D8A4-4E4B-970D-C0E16F489B9C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42DE8-C062-4699-A4C3-494FD0734B7A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F2A7E-AF55-48E8-9C26-1C5EC9B9E1DB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CAE29-1D7E-4096-80B6-5361380DB601}" type="datetime1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F86A5-3950-49CE-927D-368DF62DB6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ee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/>
              <a:t>数据结构课程设计</a:t>
            </a:r>
            <a:endParaRPr lang="zh-CN" altLang="en-US" sz="49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chemeClr val="tx1"/>
                </a:solidFill>
              </a:rPr>
              <a:t>2026- 2027</a:t>
            </a:r>
            <a:r>
              <a:rPr lang="zh-CN" altLang="en-US" sz="4000" dirty="0">
                <a:solidFill>
                  <a:schemeClr val="tx1"/>
                </a:solidFill>
              </a:rPr>
              <a:t>学年 第</a:t>
            </a:r>
            <a:r>
              <a:rPr lang="en-US" altLang="zh-CN" sz="4000" dirty="0">
                <a:solidFill>
                  <a:schemeClr val="tx1"/>
                </a:solidFill>
              </a:rPr>
              <a:t>1</a:t>
            </a:r>
            <a:r>
              <a:rPr lang="zh-CN" altLang="en-US" sz="4000" dirty="0">
                <a:solidFill>
                  <a:schemeClr val="tx1"/>
                </a:solidFill>
              </a:rPr>
              <a:t>学期</a:t>
            </a:r>
            <a:endParaRPr lang="en-US" altLang="zh-CN" sz="4000" dirty="0">
              <a:solidFill>
                <a:schemeClr val="tx1"/>
              </a:solidFill>
            </a:endParaRPr>
          </a:p>
          <a:p>
            <a:endParaRPr lang="en-US" altLang="zh-CN" sz="2800" dirty="0">
              <a:solidFill>
                <a:schemeClr val="tx1"/>
              </a:solidFill>
            </a:endParaRPr>
          </a:p>
          <a:p>
            <a:r>
              <a:rPr lang="zh-CN" altLang="en-US" sz="2800" dirty="0">
                <a:solidFill>
                  <a:schemeClr val="tx1"/>
                </a:solidFill>
              </a:rPr>
              <a:t>苏  航</a:t>
            </a:r>
            <a:endParaRPr lang="en-US" altLang="zh-CN" sz="2800" b="1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723312" cy="4525963"/>
          </a:xfrm>
        </p:spPr>
        <p:txBody>
          <a:bodyPr>
            <a:normAutofit/>
          </a:bodyPr>
          <a:lstStyle/>
          <a:p>
            <a:r>
              <a:rPr lang="zh-CN" altLang="zh-CN" dirty="0"/>
              <a:t>是【数据结构</a:t>
            </a:r>
            <a:r>
              <a:rPr lang="zh-CN" altLang="en-US" dirty="0"/>
              <a:t>与算法分析</a:t>
            </a:r>
            <a:r>
              <a:rPr lang="zh-CN" altLang="zh-CN" dirty="0"/>
              <a:t>】</a:t>
            </a:r>
            <a:r>
              <a:rPr lang="zh-CN" altLang="en-US" dirty="0"/>
              <a:t>课程教学</a:t>
            </a:r>
            <a:r>
              <a:rPr lang="zh-CN" altLang="zh-CN" dirty="0"/>
              <a:t>重要环节</a:t>
            </a:r>
            <a:endParaRPr lang="en-US" altLang="zh-CN" dirty="0"/>
          </a:p>
          <a:p>
            <a:r>
              <a:rPr lang="zh-CN" altLang="zh-CN" dirty="0"/>
              <a:t>是将理论与实际联系的必要过程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zh-CN" dirty="0"/>
              <a:t>通过课程设计</a:t>
            </a:r>
            <a:r>
              <a:rPr lang="zh-CN" altLang="en-US" dirty="0"/>
              <a:t>→</a:t>
            </a:r>
            <a:r>
              <a:rPr lang="zh-CN" altLang="zh-CN" dirty="0"/>
              <a:t>打下坚实的基础</a:t>
            </a:r>
            <a:endParaRPr lang="zh-CN" altLang="en-US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加深</a:t>
            </a:r>
            <a:r>
              <a:rPr lang="zh-CN" altLang="zh-CN" dirty="0"/>
              <a:t>对课程内容的理解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掌握</a:t>
            </a:r>
            <a:r>
              <a:rPr lang="zh-CN" altLang="zh-CN" dirty="0"/>
              <a:t>各种数据结构的应用方式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提高</a:t>
            </a:r>
            <a:r>
              <a:rPr lang="zh-CN" altLang="zh-CN" dirty="0"/>
              <a:t>进行软件设计与制作的能力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800000"/>
                </a:solidFill>
              </a:rPr>
              <a:t>培养</a:t>
            </a:r>
            <a:r>
              <a:rPr lang="zh-CN" altLang="zh-CN" dirty="0">
                <a:solidFill>
                  <a:srgbClr val="0000FF"/>
                </a:solidFill>
              </a:rPr>
              <a:t>具有良好的程序设计素质的计算机人才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98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给出规范的题目需求</a:t>
            </a:r>
            <a:r>
              <a:rPr lang="zh-CN" altLang="en-US" dirty="0"/>
              <a:t>，（共</a:t>
            </a:r>
            <a:r>
              <a:rPr lang="en-US" altLang="zh-CN" dirty="0"/>
              <a:t>2</a:t>
            </a:r>
            <a:r>
              <a:rPr lang="zh-CN" altLang="en-US" dirty="0"/>
              <a:t>个题目）</a:t>
            </a:r>
            <a:endParaRPr lang="en-US" altLang="zh-CN" dirty="0"/>
          </a:p>
          <a:p>
            <a:pPr lvl="1"/>
            <a:r>
              <a:rPr lang="zh-CN" altLang="zh-CN" dirty="0">
                <a:solidFill>
                  <a:srgbClr val="0000FF"/>
                </a:solidFill>
              </a:rPr>
              <a:t>学号</a:t>
            </a:r>
            <a:r>
              <a:rPr lang="zh-CN" altLang="en-US" dirty="0">
                <a:solidFill>
                  <a:srgbClr val="0000FF"/>
                </a:solidFill>
              </a:rPr>
              <a:t>尾号为奇数</a:t>
            </a:r>
            <a:r>
              <a:rPr lang="zh-CN" altLang="zh-CN" dirty="0"/>
              <a:t>的同学完成</a:t>
            </a:r>
            <a:r>
              <a:rPr lang="zh-CN" altLang="zh-CN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zh-CN" dirty="0">
                <a:solidFill>
                  <a:srgbClr val="0000FF"/>
                </a:solidFill>
              </a:rPr>
              <a:t>题</a:t>
            </a:r>
            <a:endParaRPr lang="zh-CN" altLang="zh-CN" sz="800" dirty="0">
              <a:solidFill>
                <a:srgbClr val="0000FF"/>
              </a:solidFill>
            </a:endParaRPr>
          </a:p>
          <a:p>
            <a:pPr lvl="1"/>
            <a:r>
              <a:rPr lang="zh-CN" altLang="zh-CN" dirty="0">
                <a:solidFill>
                  <a:srgbClr val="C00000"/>
                </a:solidFill>
              </a:rPr>
              <a:t>学号</a:t>
            </a:r>
            <a:r>
              <a:rPr lang="zh-CN" altLang="en-US" dirty="0">
                <a:solidFill>
                  <a:srgbClr val="C00000"/>
                </a:solidFill>
              </a:rPr>
              <a:t>尾号为偶数</a:t>
            </a:r>
            <a:r>
              <a:rPr lang="zh-CN" altLang="zh-CN" dirty="0"/>
              <a:t>的同学完成</a:t>
            </a:r>
            <a:r>
              <a:rPr lang="zh-CN" altLang="zh-CN" dirty="0">
                <a:solidFill>
                  <a:srgbClr val="C00000"/>
                </a:solidFill>
              </a:rPr>
              <a:t>第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zh-CN" dirty="0">
                <a:solidFill>
                  <a:srgbClr val="C00000"/>
                </a:solidFill>
              </a:rPr>
              <a:t>题</a:t>
            </a:r>
            <a:endParaRPr lang="zh-CN" altLang="zh-CN" sz="800" dirty="0">
              <a:solidFill>
                <a:srgbClr val="C00000"/>
              </a:solidFill>
            </a:endParaRPr>
          </a:p>
          <a:p>
            <a:r>
              <a:rPr lang="zh-CN" altLang="zh-CN" dirty="0"/>
              <a:t>要求学生</a:t>
            </a:r>
            <a:r>
              <a:rPr lang="zh-CN" altLang="zh-CN" u="sng" dirty="0">
                <a:solidFill>
                  <a:srgbClr val="800000"/>
                </a:solidFill>
              </a:rPr>
              <a:t>独立地</a:t>
            </a:r>
            <a:r>
              <a:rPr lang="zh-CN" altLang="zh-CN" dirty="0"/>
              <a:t>完成相应的课题</a:t>
            </a:r>
            <a:endParaRPr lang="en-US" altLang="zh-CN" dirty="0"/>
          </a:p>
          <a:p>
            <a:pPr lvl="1"/>
            <a:r>
              <a:rPr lang="zh-CN" altLang="en-US" dirty="0"/>
              <a:t>同学间可以商量，但</a:t>
            </a:r>
            <a:r>
              <a:rPr lang="zh-CN" altLang="en-US" dirty="0">
                <a:solidFill>
                  <a:srgbClr val="C00000"/>
                </a:solidFill>
              </a:rPr>
              <a:t>严禁抄袭</a:t>
            </a:r>
            <a:r>
              <a:rPr lang="zh-CN" altLang="en-US" dirty="0"/>
              <a:t>！</a:t>
            </a:r>
            <a:endParaRPr lang="en-US" altLang="zh-CN" dirty="0"/>
          </a:p>
          <a:p>
            <a:r>
              <a:rPr lang="zh-CN" altLang="zh-CN" dirty="0"/>
              <a:t>由教师</a:t>
            </a:r>
            <a:r>
              <a:rPr lang="zh-CN" altLang="zh-CN" dirty="0">
                <a:solidFill>
                  <a:srgbClr val="0000FF"/>
                </a:solidFill>
              </a:rPr>
              <a:t>分阶段检查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0000FF"/>
                </a:solidFill>
              </a:rPr>
              <a:t>最后的验收</a:t>
            </a:r>
            <a:endParaRPr lang="en-US" altLang="zh-CN" dirty="0"/>
          </a:p>
          <a:p>
            <a:pPr lvl="1"/>
            <a:r>
              <a:rPr lang="zh-CN" altLang="zh-CN" dirty="0"/>
              <a:t>检查验收课程设计第</a:t>
            </a:r>
            <a:r>
              <a:rPr lang="en-US" altLang="zh-CN" dirty="0"/>
              <a:t>15</a:t>
            </a:r>
            <a:r>
              <a:rPr lang="zh-CN" altLang="zh-CN" dirty="0"/>
              <a:t>、</a:t>
            </a:r>
            <a:r>
              <a:rPr lang="en-US" altLang="zh-CN" dirty="0"/>
              <a:t>16</a:t>
            </a:r>
            <a:r>
              <a:rPr lang="zh-CN" altLang="zh-CN" dirty="0"/>
              <a:t>周，</a:t>
            </a:r>
            <a:br>
              <a:rPr lang="en-US" altLang="zh-CN" dirty="0"/>
            </a:br>
            <a:r>
              <a:rPr lang="zh-CN" altLang="en-US" dirty="0"/>
              <a:t>周一（计科）、周五（信安）</a:t>
            </a:r>
            <a:r>
              <a:rPr lang="zh-CN" altLang="zh-CN" dirty="0"/>
              <a:t>的</a:t>
            </a:r>
            <a:r>
              <a:rPr lang="en-US" altLang="zh-CN" dirty="0"/>
              <a:t>5-8</a:t>
            </a:r>
            <a:r>
              <a:rPr lang="zh-CN" altLang="zh-CN" dirty="0"/>
              <a:t>节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题</a:t>
            </a:r>
            <a:r>
              <a:rPr lang="en-US" altLang="zh-CN" dirty="0"/>
              <a:t>15</a:t>
            </a:r>
            <a:r>
              <a:rPr lang="zh-CN" altLang="en-US" dirty="0"/>
              <a:t>周检查验收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题</a:t>
            </a:r>
            <a:r>
              <a:rPr lang="en-US" altLang="zh-CN" dirty="0"/>
              <a:t>16</a:t>
            </a:r>
            <a:r>
              <a:rPr lang="zh-CN" altLang="en-US" dirty="0"/>
              <a:t>周检查验收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800000"/>
                </a:solidFill>
              </a:rPr>
              <a:t>鼓励提前完成并预约检查！</a:t>
            </a:r>
            <a:endParaRPr lang="en-US" altLang="zh-CN" dirty="0">
              <a:solidFill>
                <a:srgbClr val="8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24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课程设计阶段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zh-CN" altLang="zh-CN" dirty="0"/>
              <a:t>第一阶段：</a:t>
            </a:r>
            <a:endParaRPr lang="en-US" altLang="zh-CN" dirty="0"/>
          </a:p>
          <a:p>
            <a:pPr lvl="1"/>
            <a:r>
              <a:rPr lang="zh-CN" altLang="zh-CN" dirty="0"/>
              <a:t>布置课程设计题目</a:t>
            </a:r>
            <a:r>
              <a:rPr lang="zh-CN" altLang="en-US" dirty="0"/>
              <a:t>，</a:t>
            </a:r>
            <a:r>
              <a:rPr lang="zh-CN" altLang="zh-CN" dirty="0"/>
              <a:t>开学第</a:t>
            </a:r>
            <a:r>
              <a:rPr lang="en-US" altLang="zh-CN" dirty="0"/>
              <a:t>1</a:t>
            </a:r>
            <a:r>
              <a:rPr lang="zh-CN" altLang="zh-CN" dirty="0"/>
              <a:t>周发布</a:t>
            </a:r>
          </a:p>
          <a:p>
            <a:r>
              <a:rPr lang="zh-CN" altLang="zh-CN" dirty="0"/>
              <a:t>第二阶段：</a:t>
            </a:r>
            <a:endParaRPr lang="en-US" altLang="zh-CN" dirty="0"/>
          </a:p>
          <a:p>
            <a:pPr lvl="1"/>
            <a:r>
              <a:rPr lang="zh-CN" altLang="zh-CN" dirty="0"/>
              <a:t>学生按照题目要求，独立完成课程设计的题目</a:t>
            </a:r>
          </a:p>
          <a:p>
            <a:r>
              <a:rPr lang="zh-CN" altLang="zh-CN" dirty="0"/>
              <a:t>第三阶段：</a:t>
            </a:r>
            <a:endParaRPr lang="en-US" altLang="zh-CN" dirty="0"/>
          </a:p>
          <a:p>
            <a:pPr lvl="1"/>
            <a:r>
              <a:rPr lang="zh-CN" altLang="zh-CN" dirty="0"/>
              <a:t>学生按照要求撰写课程设计报告</a:t>
            </a:r>
            <a:endParaRPr lang="en-US" altLang="zh-CN" dirty="0"/>
          </a:p>
          <a:p>
            <a:pPr lvl="1"/>
            <a:r>
              <a:rPr lang="zh-CN" altLang="zh-CN" dirty="0"/>
              <a:t>完成三个阶段的全部任务</a:t>
            </a:r>
          </a:p>
          <a:p>
            <a:r>
              <a:rPr lang="zh-CN" altLang="zh-CN" dirty="0"/>
              <a:t>第四阶段：</a:t>
            </a:r>
            <a:endParaRPr lang="en-US" altLang="zh-CN" dirty="0"/>
          </a:p>
          <a:p>
            <a:pPr lvl="1"/>
            <a:r>
              <a:rPr lang="zh-CN" altLang="zh-CN" dirty="0"/>
              <a:t>检查验收课程设计</a:t>
            </a:r>
            <a:r>
              <a:rPr lang="zh-CN" altLang="zh-CN" dirty="0">
                <a:solidFill>
                  <a:srgbClr val="800000"/>
                </a:solidFill>
              </a:rPr>
              <a:t>第</a:t>
            </a:r>
            <a:r>
              <a:rPr lang="en-US" altLang="zh-CN" dirty="0">
                <a:solidFill>
                  <a:srgbClr val="800000"/>
                </a:solidFill>
              </a:rPr>
              <a:t>15</a:t>
            </a:r>
            <a:r>
              <a:rPr lang="zh-CN" altLang="zh-CN" dirty="0">
                <a:solidFill>
                  <a:srgbClr val="800000"/>
                </a:solidFill>
              </a:rPr>
              <a:t>、</a:t>
            </a:r>
            <a:r>
              <a:rPr lang="en-US" altLang="zh-CN" dirty="0">
                <a:solidFill>
                  <a:srgbClr val="800000"/>
                </a:solidFill>
              </a:rPr>
              <a:t>16</a:t>
            </a:r>
            <a:r>
              <a:rPr lang="zh-CN" altLang="zh-CN" dirty="0">
                <a:solidFill>
                  <a:srgbClr val="800000"/>
                </a:solidFill>
              </a:rPr>
              <a:t>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21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课程设计</a:t>
            </a:r>
            <a:r>
              <a:rPr lang="zh-CN" altLang="en-US" dirty="0"/>
              <a:t>过程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分析阶段：</a:t>
            </a:r>
            <a:endParaRPr lang="en-US" altLang="zh-CN" dirty="0"/>
          </a:p>
          <a:p>
            <a:pPr lvl="1"/>
            <a:r>
              <a:rPr lang="zh-CN" altLang="zh-CN" dirty="0"/>
              <a:t>仔细阅读课程设计题目要求，正确理解题目的基本需求，明确题目应该具有的基本功能</a:t>
            </a:r>
            <a:endParaRPr lang="en-US" altLang="zh-CN" dirty="0"/>
          </a:p>
          <a:p>
            <a:pPr lvl="1"/>
            <a:r>
              <a:rPr lang="zh-CN" altLang="zh-CN" dirty="0"/>
              <a:t>需要输入的数据信息和输出的结果及输出的形式，在此基础上抽取相应的数学模型，选择合适的数据结构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设计阶段：</a:t>
            </a:r>
            <a:endParaRPr lang="en-US" altLang="zh-CN" dirty="0"/>
          </a:p>
          <a:p>
            <a:pPr lvl="1"/>
            <a:r>
              <a:rPr lang="zh-CN" altLang="zh-CN" dirty="0"/>
              <a:t>确定数据结构的存储结构</a:t>
            </a:r>
            <a:endParaRPr lang="en-US" altLang="zh-CN" dirty="0"/>
          </a:p>
          <a:p>
            <a:pPr lvl="1"/>
            <a:r>
              <a:rPr lang="zh-CN" altLang="zh-CN" dirty="0"/>
              <a:t>设计模块及各模块之间的关系</a:t>
            </a:r>
            <a:endParaRPr lang="en-US" altLang="zh-CN" dirty="0"/>
          </a:p>
          <a:p>
            <a:pPr lvl="1"/>
            <a:r>
              <a:rPr lang="zh-CN" altLang="zh-CN" dirty="0"/>
              <a:t>设计各种操作的算法以及系统的用户界面</a:t>
            </a:r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180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完成课程设计任务</a:t>
            </a:r>
            <a:r>
              <a:rPr lang="zh-CN" altLang="en-US" dirty="0"/>
              <a:t>的过程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zh-CN" altLang="zh-CN" dirty="0"/>
              <a:t>编码阶段：</a:t>
            </a:r>
            <a:endParaRPr lang="en-US" altLang="zh-CN" dirty="0"/>
          </a:p>
          <a:p>
            <a:pPr lvl="1"/>
            <a:r>
              <a:rPr lang="zh-CN" altLang="zh-CN" dirty="0"/>
              <a:t>利用面向对象的语言实现上述设计的内容，不能使用类库、模板等（用户界面除外）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zh-CN" altLang="zh-CN" dirty="0"/>
              <a:t>调试并测试：</a:t>
            </a:r>
            <a:endParaRPr lang="en-US" altLang="zh-CN" dirty="0"/>
          </a:p>
          <a:p>
            <a:pPr lvl="1"/>
            <a:r>
              <a:rPr lang="zh-CN" altLang="zh-CN" dirty="0"/>
              <a:t>选用适当的测试数据对所实现系统进行测试，测试数据应该尽可能地覆盖各种情况</a:t>
            </a:r>
            <a:endParaRPr lang="en-US" altLang="zh-CN" dirty="0"/>
          </a:p>
          <a:p>
            <a:r>
              <a:rPr lang="zh-CN" altLang="zh-CN" dirty="0"/>
              <a:t>在不同的阶段生成对应的报告文档</a:t>
            </a:r>
          </a:p>
          <a:p>
            <a:r>
              <a:rPr lang="zh-CN" altLang="zh-CN" dirty="0">
                <a:solidFill>
                  <a:srgbClr val="800000"/>
                </a:solidFill>
              </a:rPr>
              <a:t>各阶段检查</a:t>
            </a:r>
            <a:r>
              <a:rPr lang="en-US" altLang="zh-CN" dirty="0">
                <a:solidFill>
                  <a:srgbClr val="800000"/>
                </a:solidFill>
              </a:rPr>
              <a:t>30</a:t>
            </a:r>
            <a:r>
              <a:rPr lang="zh-CN" altLang="zh-CN" dirty="0">
                <a:solidFill>
                  <a:srgbClr val="800000"/>
                </a:solidFill>
              </a:rPr>
              <a:t>分</a:t>
            </a:r>
            <a:r>
              <a:rPr lang="zh-CN" altLang="en-US" dirty="0">
                <a:solidFill>
                  <a:srgbClr val="800000"/>
                </a:solidFill>
              </a:rPr>
              <a:t>，</a:t>
            </a:r>
            <a:r>
              <a:rPr lang="zh-CN" altLang="zh-CN" dirty="0">
                <a:solidFill>
                  <a:srgbClr val="800000"/>
                </a:solidFill>
              </a:rPr>
              <a:t>验收检查</a:t>
            </a:r>
            <a:r>
              <a:rPr lang="en-US" altLang="zh-CN" dirty="0">
                <a:solidFill>
                  <a:srgbClr val="800000"/>
                </a:solidFill>
              </a:rPr>
              <a:t>40</a:t>
            </a:r>
            <a:r>
              <a:rPr lang="zh-CN" altLang="zh-CN" dirty="0">
                <a:solidFill>
                  <a:srgbClr val="800000"/>
                </a:solidFill>
              </a:rPr>
              <a:t>分，课程设计报告</a:t>
            </a:r>
            <a:r>
              <a:rPr lang="en-US" altLang="zh-CN" dirty="0">
                <a:solidFill>
                  <a:srgbClr val="800000"/>
                </a:solidFill>
              </a:rPr>
              <a:t>30</a:t>
            </a:r>
            <a:r>
              <a:rPr lang="zh-CN" altLang="zh-CN" dirty="0">
                <a:solidFill>
                  <a:srgbClr val="800000"/>
                </a:solidFill>
              </a:rPr>
              <a:t>分</a:t>
            </a:r>
          </a:p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180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课程设计要求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要求每位学生独立完成自己分配到的课题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依照上机时间安排，按时到机房上机</a:t>
            </a:r>
            <a:endParaRPr lang="en-US" altLang="zh-CN" dirty="0"/>
          </a:p>
          <a:p>
            <a:pPr lvl="1"/>
            <a:r>
              <a:rPr lang="zh-CN" altLang="zh-CN" dirty="0"/>
              <a:t>如有特殊情况，必须亲自向指导教师说明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为了使教师掌握每位学生课题完成的进度，教师安排</a:t>
            </a:r>
            <a:r>
              <a:rPr lang="en-US" altLang="zh-CN" dirty="0"/>
              <a:t>2</a:t>
            </a:r>
            <a:r>
              <a:rPr lang="zh-CN" altLang="zh-CN" dirty="0"/>
              <a:t>次进度检查</a:t>
            </a:r>
            <a:endParaRPr lang="en-US" altLang="zh-CN" dirty="0"/>
          </a:p>
          <a:p>
            <a:pPr lvl="1"/>
            <a:r>
              <a:rPr lang="zh-CN" altLang="zh-CN" dirty="0"/>
              <a:t>每位学生必须到机房，根据课题指导教师的要求进行检查，</a:t>
            </a:r>
            <a:r>
              <a:rPr lang="zh-CN" altLang="en-US" dirty="0">
                <a:solidFill>
                  <a:srgbClr val="800000"/>
                </a:solidFill>
              </a:rPr>
              <a:t>每次</a:t>
            </a:r>
            <a:r>
              <a:rPr lang="zh-CN" altLang="zh-CN" dirty="0">
                <a:solidFill>
                  <a:srgbClr val="800000"/>
                </a:solidFill>
              </a:rPr>
              <a:t>检查的结果作为最终成绩评定的重要依据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如果在课程设计期间发现问题，及时找指导教师联系并解决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9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课程设计要求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69160"/>
          </a:xfrm>
        </p:spPr>
        <p:txBody>
          <a:bodyPr>
            <a:normAutofit/>
          </a:bodyPr>
          <a:lstStyle/>
          <a:p>
            <a:r>
              <a:rPr lang="zh-CN" altLang="zh-CN" dirty="0"/>
              <a:t>第</a:t>
            </a:r>
            <a:r>
              <a:rPr lang="en-US" altLang="zh-CN" dirty="0"/>
              <a:t>15</a:t>
            </a:r>
            <a:r>
              <a:rPr lang="zh-CN" altLang="zh-CN" dirty="0"/>
              <a:t>、</a:t>
            </a:r>
            <a:r>
              <a:rPr lang="en-US" altLang="zh-CN" dirty="0"/>
              <a:t>16</a:t>
            </a:r>
            <a:r>
              <a:rPr lang="zh-CN" altLang="zh-CN" dirty="0"/>
              <a:t>周是课程设计</a:t>
            </a:r>
            <a:r>
              <a:rPr lang="zh-CN" altLang="en-US" dirty="0"/>
              <a:t>最终</a:t>
            </a:r>
            <a:r>
              <a:rPr lang="zh-CN" altLang="zh-CN" dirty="0"/>
              <a:t>验收时间</a:t>
            </a:r>
            <a:endParaRPr lang="en-US" altLang="zh-CN" dirty="0"/>
          </a:p>
          <a:p>
            <a:pPr lvl="1"/>
            <a:r>
              <a:rPr lang="zh-CN" altLang="zh-CN" dirty="0"/>
              <a:t>自己程序的光盘</a:t>
            </a:r>
            <a:r>
              <a:rPr lang="zh-CN" altLang="en-US" dirty="0"/>
              <a:t>（可以统一提交一个</a:t>
            </a:r>
            <a:r>
              <a:rPr lang="en-US" altLang="zh-CN" dirty="0"/>
              <a:t>U</a:t>
            </a:r>
            <a:r>
              <a:rPr lang="zh-CN" altLang="en-US" dirty="0"/>
              <a:t>盘）</a:t>
            </a:r>
            <a:endParaRPr lang="en-US" altLang="zh-CN" dirty="0"/>
          </a:p>
          <a:p>
            <a:pPr lvl="2"/>
            <a:r>
              <a:rPr lang="zh-CN" altLang="zh-CN" dirty="0"/>
              <a:t>包括源代码、课程设计报告电子版</a:t>
            </a:r>
            <a:endParaRPr lang="en-US" altLang="zh-CN" dirty="0"/>
          </a:p>
          <a:p>
            <a:pPr lvl="1"/>
            <a:r>
              <a:rPr lang="zh-CN" altLang="zh-CN" dirty="0"/>
              <a:t>课程设计报告</a:t>
            </a:r>
            <a:r>
              <a:rPr lang="zh-CN" altLang="en-US" dirty="0"/>
              <a:t>（纸版）</a:t>
            </a:r>
            <a:endParaRPr lang="en-US" altLang="zh-CN" dirty="0"/>
          </a:p>
          <a:p>
            <a:pPr lvl="2"/>
            <a:r>
              <a:rPr lang="en-US" altLang="zh-CN" dirty="0"/>
              <a:t>A4</a:t>
            </a:r>
            <a:r>
              <a:rPr lang="zh-CN" altLang="zh-CN" dirty="0"/>
              <a:t>纸打印，没有报告不给予检查，并且没有成绩</a:t>
            </a:r>
            <a:endParaRPr lang="en-US" altLang="zh-CN" dirty="0"/>
          </a:p>
          <a:p>
            <a:pPr lvl="1"/>
            <a:r>
              <a:rPr lang="zh-CN" altLang="zh-CN" dirty="0"/>
              <a:t>若</a:t>
            </a:r>
            <a:r>
              <a:rPr lang="zh-CN" altLang="en-US" dirty="0"/>
              <a:t>错过了</a:t>
            </a:r>
            <a:r>
              <a:rPr lang="zh-CN" altLang="zh-CN" dirty="0"/>
              <a:t>时间，不能再补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800000"/>
                </a:solidFill>
              </a:rPr>
              <a:t>给一次机会（但会扣分）</a:t>
            </a:r>
            <a:endParaRPr lang="en-US" altLang="zh-CN" dirty="0">
              <a:solidFill>
                <a:srgbClr val="800000"/>
              </a:solidFill>
            </a:endParaRPr>
          </a:p>
          <a:p>
            <a:pPr lvl="2"/>
            <a:r>
              <a:rPr lang="en-US" altLang="zh-CN" dirty="0">
                <a:solidFill>
                  <a:srgbClr val="800000"/>
                </a:solidFill>
              </a:rPr>
              <a:t>16</a:t>
            </a:r>
            <a:r>
              <a:rPr lang="zh-CN" altLang="en-US" dirty="0">
                <a:solidFill>
                  <a:srgbClr val="800000"/>
                </a:solidFill>
              </a:rPr>
              <a:t>周是</a:t>
            </a:r>
            <a:r>
              <a:rPr lang="en-US" altLang="zh-CN" dirty="0">
                <a:solidFill>
                  <a:srgbClr val="800000"/>
                </a:solidFill>
              </a:rPr>
              <a:t>deadline</a:t>
            </a:r>
            <a:r>
              <a:rPr lang="zh-CN" altLang="en-US" dirty="0">
                <a:solidFill>
                  <a:srgbClr val="800000"/>
                </a:solidFill>
              </a:rPr>
              <a:t>，过时不补</a:t>
            </a:r>
            <a:endParaRPr lang="en-US" altLang="zh-CN" dirty="0">
              <a:solidFill>
                <a:srgbClr val="800000"/>
              </a:solidFill>
            </a:endParaRPr>
          </a:p>
          <a:p>
            <a:pPr lvl="1"/>
            <a:r>
              <a:rPr lang="zh-CN" altLang="zh-CN" dirty="0"/>
              <a:t>检查时必须出示本人的学生证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92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686800" cy="5257799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验收时，指导教师会现场变更需求，要求同学现场修改源代码</a:t>
            </a:r>
          </a:p>
          <a:p>
            <a:r>
              <a:rPr lang="zh-CN" altLang="zh-CN" sz="2800" dirty="0"/>
              <a:t>若发现作弊者，作弊双方均按学籍管理办法处理</a:t>
            </a:r>
          </a:p>
          <a:p>
            <a:r>
              <a:rPr lang="zh-CN" altLang="en-US" sz="2800" dirty="0">
                <a:solidFill>
                  <a:srgbClr val="800000"/>
                </a:solidFill>
              </a:rPr>
              <a:t>日新学堂</a:t>
            </a:r>
            <a:endParaRPr lang="en-US" altLang="zh-CN" sz="2800" dirty="0">
              <a:solidFill>
                <a:srgbClr val="800000"/>
              </a:solidFill>
            </a:endParaRPr>
          </a:p>
          <a:p>
            <a:pPr lvl="1"/>
            <a:r>
              <a:rPr lang="zh-CN" altLang="en-US" sz="2400" dirty="0"/>
              <a:t>会同步更新资料（没有更新的话请同学们提醒）</a:t>
            </a:r>
            <a:endParaRPr lang="en-US" sz="2400" dirty="0"/>
          </a:p>
          <a:p>
            <a:pPr lvl="2"/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69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zh-CN" altLang="zh-CN" dirty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7427168" cy="3196952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建议使用</a:t>
            </a:r>
            <a:r>
              <a:rPr lang="en-US" altLang="zh-CN" sz="2400" dirty="0"/>
              <a:t>Git</a:t>
            </a:r>
            <a:r>
              <a:rPr lang="zh-CN" altLang="en-US" sz="2400" dirty="0"/>
              <a:t>来管理你的项目</a:t>
            </a:r>
            <a:endParaRPr lang="en-US" altLang="zh-CN" sz="2400" dirty="0"/>
          </a:p>
          <a:p>
            <a:pPr lvl="1"/>
            <a:r>
              <a:rPr lang="zh-CN" altLang="en-US" sz="2000" dirty="0"/>
              <a:t>根据你</a:t>
            </a:r>
            <a:r>
              <a:rPr lang="en-US" altLang="zh-CN" sz="2000" dirty="0"/>
              <a:t>Git</a:t>
            </a:r>
            <a:r>
              <a:rPr lang="zh-CN" altLang="en-US" sz="2000" dirty="0"/>
              <a:t>的使用情况有额外</a:t>
            </a:r>
            <a:r>
              <a:rPr lang="en-US" altLang="zh-CN" sz="2000" dirty="0"/>
              <a:t>+</a:t>
            </a:r>
            <a:r>
              <a:rPr lang="zh-CN" altLang="en-US" sz="2000" dirty="0"/>
              <a:t>分</a:t>
            </a:r>
            <a:endParaRPr lang="en-US" altLang="zh-CN" sz="2000" dirty="0"/>
          </a:p>
          <a:p>
            <a:r>
              <a:rPr lang="zh-CN" altLang="en-US" sz="2400" dirty="0"/>
              <a:t>推荐试用码云</a:t>
            </a:r>
            <a:endParaRPr lang="en-US" altLang="zh-CN" sz="2400" dirty="0"/>
          </a:p>
          <a:p>
            <a:pPr lvl="1"/>
            <a:r>
              <a:rPr lang="en-US" sz="2000" dirty="0">
                <a:hlinkClick r:id="rId2"/>
              </a:rPr>
              <a:t>https://gitee.com</a:t>
            </a:r>
            <a:r>
              <a:rPr lang="en-US" sz="2000" dirty="0"/>
              <a:t> </a:t>
            </a:r>
            <a:r>
              <a:rPr lang="zh-CN" altLang="en-US" sz="2000" dirty="0"/>
              <a:t>，可以免费试用个人版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6A86CD-B526-4A1B-8E6A-6F0AA6E1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72768"/>
            <a:ext cx="9144000" cy="356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34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zh-CN" altLang="zh-CN" dirty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zh-CN" altLang="en-US" dirty="0"/>
              <a:t>建议在设计和撰写报告中</a:t>
            </a:r>
            <a:r>
              <a:rPr lang="zh-CN" altLang="en-US" dirty="0">
                <a:solidFill>
                  <a:srgbClr val="C00000"/>
                </a:solidFill>
              </a:rPr>
              <a:t>使用专业工具</a:t>
            </a:r>
            <a:r>
              <a:rPr lang="en-US" altLang="zh-CN" dirty="0">
                <a:solidFill>
                  <a:srgbClr val="C00000"/>
                </a:solidFill>
              </a:rPr>
              <a:t>——UML</a:t>
            </a:r>
          </a:p>
          <a:p>
            <a:pPr lvl="1"/>
            <a:r>
              <a:rPr lang="en-US" altLang="zh-CN" dirty="0" err="1"/>
              <a:t>StarUML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1"/>
            <a:r>
              <a:rPr lang="en-US" altLang="zh-CN" dirty="0"/>
              <a:t>EA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endParaRPr lang="en-US" altLang="zh-CN" dirty="0"/>
          </a:p>
          <a:p>
            <a:pPr lvl="1"/>
            <a:r>
              <a:rPr lang="en-US" altLang="zh-CN" dirty="0"/>
              <a:t>MS Visio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44" y="2560034"/>
            <a:ext cx="2228056" cy="1370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44" y="2450125"/>
            <a:ext cx="1661006" cy="14138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189" r="189"/>
          <a:stretch/>
        </p:blipFill>
        <p:spPr>
          <a:xfrm>
            <a:off x="2160080" y="4405449"/>
            <a:ext cx="2255428" cy="127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20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周：</a:t>
            </a:r>
            <a:endParaRPr lang="en-US" altLang="zh-CN" dirty="0"/>
          </a:p>
          <a:p>
            <a:pPr lvl="1"/>
            <a:r>
              <a:rPr lang="zh-CN" altLang="zh-CN" dirty="0"/>
              <a:t>在 </a:t>
            </a:r>
            <a:r>
              <a:rPr lang="zh-CN" altLang="en-US" dirty="0"/>
              <a:t>“日新学堂”</a:t>
            </a:r>
            <a:r>
              <a:rPr lang="zh-CN" altLang="zh-CN" dirty="0"/>
              <a:t>公布题目及设计的要求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周至第</a:t>
            </a:r>
            <a:r>
              <a:rPr lang="en-US" altLang="zh-CN" dirty="0"/>
              <a:t>16</a:t>
            </a:r>
            <a:r>
              <a:rPr lang="zh-CN" altLang="zh-CN" dirty="0"/>
              <a:t>周</a:t>
            </a:r>
            <a:endParaRPr lang="en-US" altLang="zh-CN" dirty="0"/>
          </a:p>
          <a:p>
            <a:pPr lvl="1"/>
            <a:r>
              <a:rPr lang="zh-CN" altLang="zh-CN" dirty="0"/>
              <a:t>按照要求独立完成课程设计题目所要求的各项任务，通过进度检查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15</a:t>
            </a:r>
            <a:r>
              <a:rPr lang="zh-CN" altLang="zh-CN" dirty="0"/>
              <a:t>周</a:t>
            </a:r>
            <a:endParaRPr lang="en-US" altLang="zh-CN" dirty="0"/>
          </a:p>
          <a:p>
            <a:pPr lvl="1"/>
            <a:r>
              <a:rPr lang="zh-CN" altLang="en-US" dirty="0"/>
              <a:t>周一（计科）、周五（信安）的</a:t>
            </a:r>
            <a:r>
              <a:rPr lang="en-US" altLang="zh-CN" dirty="0"/>
              <a:t>5-8</a:t>
            </a:r>
            <a:r>
              <a:rPr lang="zh-CN" altLang="zh-CN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做</a:t>
            </a:r>
            <a:r>
              <a:rPr lang="zh-CN" altLang="zh-CN" dirty="0"/>
              <a:t>第</a:t>
            </a:r>
            <a:r>
              <a:rPr lang="en-US" altLang="zh-CN" dirty="0"/>
              <a:t>1</a:t>
            </a:r>
            <a:r>
              <a:rPr lang="zh-CN" altLang="zh-CN" dirty="0"/>
              <a:t>题</a:t>
            </a:r>
            <a:r>
              <a:rPr lang="zh-CN" altLang="en-US" dirty="0"/>
              <a:t>的</a:t>
            </a:r>
            <a:r>
              <a:rPr lang="zh-CN" altLang="zh-CN" dirty="0"/>
              <a:t>同学进行验收检查</a:t>
            </a:r>
          </a:p>
          <a:p>
            <a:r>
              <a:rPr lang="zh-CN" altLang="zh-CN" dirty="0"/>
              <a:t>第</a:t>
            </a:r>
            <a:r>
              <a:rPr lang="en-US" altLang="zh-CN" dirty="0"/>
              <a:t>16</a:t>
            </a:r>
            <a:r>
              <a:rPr lang="zh-CN" altLang="zh-CN" dirty="0"/>
              <a:t>周</a:t>
            </a:r>
            <a:endParaRPr lang="en-US" altLang="zh-CN" dirty="0"/>
          </a:p>
          <a:p>
            <a:pPr lvl="1"/>
            <a:r>
              <a:rPr lang="zh-CN" altLang="en-US" dirty="0"/>
              <a:t>周一（计科）、周五（信安）的</a:t>
            </a:r>
            <a:r>
              <a:rPr lang="en-US" altLang="zh-CN" dirty="0"/>
              <a:t>5-8</a:t>
            </a:r>
            <a:r>
              <a:rPr lang="zh-CN" altLang="zh-CN" dirty="0"/>
              <a:t>节</a:t>
            </a:r>
            <a:endParaRPr lang="en-US" altLang="zh-CN" dirty="0"/>
          </a:p>
          <a:p>
            <a:pPr lvl="1"/>
            <a:r>
              <a:rPr lang="zh-CN" altLang="en-US" dirty="0"/>
              <a:t>做</a:t>
            </a:r>
            <a:r>
              <a:rPr lang="zh-CN" altLang="zh-CN" dirty="0"/>
              <a:t>第</a:t>
            </a:r>
            <a:r>
              <a:rPr lang="en-US" altLang="zh-CN" dirty="0"/>
              <a:t>2</a:t>
            </a:r>
            <a:r>
              <a:rPr lang="zh-CN" altLang="zh-CN" dirty="0"/>
              <a:t>题</a:t>
            </a:r>
            <a:r>
              <a:rPr lang="zh-CN" altLang="en-US" dirty="0"/>
              <a:t>的</a:t>
            </a:r>
            <a:r>
              <a:rPr lang="zh-CN" altLang="zh-CN" dirty="0"/>
              <a:t>同学进行验收检查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23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课程设计安排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77500" lnSpcReduction="20000"/>
          </a:bodyPr>
          <a:lstStyle/>
          <a:p>
            <a:r>
              <a:rPr lang="zh-CN" altLang="zh-CN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zh-CN" dirty="0">
                <a:solidFill>
                  <a:srgbClr val="0000FF"/>
                </a:solidFill>
              </a:rPr>
              <a:t>次进度检查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06</a:t>
            </a:r>
            <a:r>
              <a:rPr lang="zh-CN" altLang="zh-CN" u="wavy" dirty="0"/>
              <a:t>周</a:t>
            </a:r>
            <a:r>
              <a:rPr lang="zh-CN" altLang="en-US" u="wavy" dirty="0"/>
              <a:t>周一（计科）、周五（信安）的</a:t>
            </a:r>
            <a:r>
              <a:rPr lang="en-US" altLang="zh-CN" u="wavy" dirty="0"/>
              <a:t>5-8</a:t>
            </a:r>
            <a:r>
              <a:rPr lang="zh-CN" altLang="zh-CN" u="wavy" dirty="0"/>
              <a:t>节第</a:t>
            </a:r>
            <a:r>
              <a:rPr lang="en-US" altLang="zh-CN" u="wavy" dirty="0"/>
              <a:t>1</a:t>
            </a:r>
            <a:r>
              <a:rPr lang="zh-CN" altLang="zh-CN" u="wavy" dirty="0"/>
              <a:t>题进行检查</a:t>
            </a:r>
            <a:endParaRPr lang="en-US" altLang="zh-CN" u="wavy" dirty="0"/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07</a:t>
            </a:r>
            <a:r>
              <a:rPr lang="zh-CN" altLang="zh-CN" u="wavy" dirty="0"/>
              <a:t>周</a:t>
            </a:r>
            <a:r>
              <a:rPr lang="zh-CN" altLang="en-US" u="wavy" dirty="0"/>
              <a:t>周一（计科）、周五（信安）的</a:t>
            </a:r>
            <a:r>
              <a:rPr lang="en-US" altLang="zh-CN" u="wavy" dirty="0"/>
              <a:t>5-8</a:t>
            </a:r>
            <a:r>
              <a:rPr lang="zh-CN" altLang="zh-CN" u="wavy" dirty="0"/>
              <a:t>节第</a:t>
            </a:r>
            <a:r>
              <a:rPr lang="en-US" altLang="zh-CN" u="wavy" dirty="0"/>
              <a:t>2</a:t>
            </a:r>
            <a:r>
              <a:rPr lang="zh-CN" altLang="zh-CN" u="wavy" dirty="0"/>
              <a:t>题进行检查</a:t>
            </a:r>
            <a:endParaRPr lang="en-US" altLang="zh-CN" u="wavy" dirty="0"/>
          </a:p>
          <a:p>
            <a:pPr lvl="1"/>
            <a:endParaRPr lang="en-US" altLang="zh-CN" u="wavy" dirty="0"/>
          </a:p>
          <a:p>
            <a:r>
              <a:rPr lang="zh-CN" altLang="zh-CN" dirty="0">
                <a:solidFill>
                  <a:srgbClr val="0000FF"/>
                </a:solidFill>
              </a:rPr>
              <a:t>第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zh-CN" dirty="0">
                <a:solidFill>
                  <a:srgbClr val="0000FF"/>
                </a:solidFill>
              </a:rPr>
              <a:t>次进度检查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11</a:t>
            </a:r>
            <a:r>
              <a:rPr lang="zh-CN" altLang="zh-CN" u="wavy" dirty="0"/>
              <a:t>周</a:t>
            </a:r>
            <a:r>
              <a:rPr lang="zh-CN" altLang="en-US" dirty="0"/>
              <a:t>周一（计科）、周五（信安）的</a:t>
            </a:r>
            <a:r>
              <a:rPr lang="en-US" altLang="zh-CN" u="wavy" dirty="0"/>
              <a:t>5-8</a:t>
            </a:r>
            <a:r>
              <a:rPr lang="zh-CN" altLang="zh-CN" u="wavy" dirty="0"/>
              <a:t>节第</a:t>
            </a:r>
            <a:r>
              <a:rPr lang="en-US" altLang="zh-CN" u="wavy" dirty="0"/>
              <a:t>1</a:t>
            </a:r>
            <a:r>
              <a:rPr lang="zh-CN" altLang="zh-CN" u="wavy" dirty="0"/>
              <a:t>题进行检查</a:t>
            </a:r>
            <a:endParaRPr lang="zh-CN" altLang="zh-CN" dirty="0"/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12</a:t>
            </a:r>
            <a:r>
              <a:rPr lang="zh-CN" altLang="zh-CN" u="wavy" dirty="0"/>
              <a:t>周</a:t>
            </a:r>
            <a:r>
              <a:rPr lang="zh-CN" altLang="en-US" dirty="0"/>
              <a:t>周一（计科）、周五（信安）的</a:t>
            </a:r>
            <a:r>
              <a:rPr lang="en-US" altLang="zh-CN" u="wavy" dirty="0"/>
              <a:t>5-8</a:t>
            </a:r>
            <a:r>
              <a:rPr lang="zh-CN" altLang="zh-CN" u="wavy" dirty="0"/>
              <a:t>节第</a:t>
            </a:r>
            <a:r>
              <a:rPr lang="en-US" altLang="zh-CN" u="wavy" dirty="0"/>
              <a:t>2</a:t>
            </a:r>
            <a:r>
              <a:rPr lang="zh-CN" altLang="zh-CN" u="wavy" dirty="0"/>
              <a:t>题进行检查</a:t>
            </a:r>
            <a:endParaRPr lang="en-US" altLang="zh-CN" u="wavy" dirty="0"/>
          </a:p>
          <a:p>
            <a:pPr lvl="1"/>
            <a:endParaRPr lang="zh-CN" altLang="zh-CN" dirty="0"/>
          </a:p>
          <a:p>
            <a:r>
              <a:rPr lang="zh-CN" altLang="zh-CN" dirty="0">
                <a:solidFill>
                  <a:srgbClr val="C00000"/>
                </a:solidFill>
              </a:rPr>
              <a:t>最终验收检查</a:t>
            </a:r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15</a:t>
            </a:r>
            <a:r>
              <a:rPr lang="zh-CN" altLang="zh-CN" u="wavy" dirty="0"/>
              <a:t>周星期</a:t>
            </a:r>
            <a:r>
              <a:rPr lang="zh-CN" altLang="en-US" u="wavy" dirty="0"/>
              <a:t>一</a:t>
            </a:r>
            <a:r>
              <a:rPr lang="en-US" altLang="zh-CN" u="wavy" dirty="0"/>
              <a:t>5-8</a:t>
            </a:r>
            <a:r>
              <a:rPr lang="zh-CN" altLang="zh-CN" u="wavy" dirty="0"/>
              <a:t>节</a:t>
            </a:r>
            <a:r>
              <a:rPr lang="en-US" altLang="zh-CN" u="wavy" dirty="0"/>
              <a:t> </a:t>
            </a:r>
            <a:r>
              <a:rPr lang="zh-CN" altLang="zh-CN" u="wavy" dirty="0"/>
              <a:t>第</a:t>
            </a:r>
            <a:r>
              <a:rPr lang="en-US" altLang="zh-CN" u="wavy" dirty="0"/>
              <a:t>1</a:t>
            </a:r>
            <a:r>
              <a:rPr lang="zh-CN" altLang="zh-CN" u="wavy" dirty="0"/>
              <a:t>题最终检查</a:t>
            </a:r>
            <a:endParaRPr lang="zh-CN" altLang="zh-CN" dirty="0"/>
          </a:p>
          <a:p>
            <a:pPr lvl="1"/>
            <a:r>
              <a:rPr lang="zh-CN" altLang="zh-CN" u="wavy" dirty="0"/>
              <a:t>第</a:t>
            </a:r>
            <a:r>
              <a:rPr lang="en-US" altLang="zh-CN" u="wavy" dirty="0"/>
              <a:t>16</a:t>
            </a:r>
            <a:r>
              <a:rPr lang="zh-CN" altLang="zh-CN" u="wavy" dirty="0"/>
              <a:t>周星期</a:t>
            </a:r>
            <a:r>
              <a:rPr lang="zh-CN" altLang="en-US" u="wavy" dirty="0"/>
              <a:t>一</a:t>
            </a:r>
            <a:r>
              <a:rPr lang="en-US" altLang="zh-CN" u="wavy" dirty="0"/>
              <a:t>5-8</a:t>
            </a:r>
            <a:r>
              <a:rPr lang="zh-CN" altLang="zh-CN" u="wavy" dirty="0"/>
              <a:t>节</a:t>
            </a:r>
            <a:r>
              <a:rPr lang="en-US" altLang="zh-CN" u="wavy" dirty="0"/>
              <a:t> </a:t>
            </a:r>
            <a:r>
              <a:rPr lang="zh-CN" altLang="zh-CN" u="wavy" dirty="0"/>
              <a:t>第</a:t>
            </a:r>
            <a:r>
              <a:rPr lang="en-US" altLang="zh-CN" u="wavy" dirty="0"/>
              <a:t>2</a:t>
            </a:r>
            <a:r>
              <a:rPr lang="zh-CN" altLang="zh-CN" u="wavy" dirty="0"/>
              <a:t>题最终检查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752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课程设计报告应该能够反映学生完成课程设计题目的全部情况</a:t>
            </a:r>
            <a:endParaRPr lang="en-US" altLang="zh-CN" dirty="0"/>
          </a:p>
          <a:p>
            <a:pPr lvl="1"/>
            <a:r>
              <a:rPr lang="zh-CN" altLang="zh-CN" dirty="0"/>
              <a:t>对课程设计题目要求的分析</a:t>
            </a:r>
            <a:endParaRPr lang="en-US" altLang="zh-CN" dirty="0"/>
          </a:p>
          <a:p>
            <a:pPr lvl="1"/>
            <a:r>
              <a:rPr lang="zh-CN" altLang="zh-CN" dirty="0"/>
              <a:t>应用程序的设计</a:t>
            </a:r>
            <a:endParaRPr lang="en-US" altLang="zh-CN" dirty="0"/>
          </a:p>
          <a:p>
            <a:pPr lvl="1"/>
            <a:r>
              <a:rPr lang="zh-CN" altLang="zh-CN" dirty="0"/>
              <a:t>程序的测试过程以及程序的运行情况等</a:t>
            </a:r>
            <a:endParaRPr lang="en-US" altLang="zh-CN" dirty="0"/>
          </a:p>
          <a:p>
            <a:r>
              <a:rPr lang="zh-CN" altLang="zh-CN" dirty="0"/>
              <a:t>编写课程设计报告是课程设计的一个不容忽视的重要环节</a:t>
            </a:r>
            <a:endParaRPr lang="en-US" altLang="zh-CN" dirty="0"/>
          </a:p>
          <a:p>
            <a:pPr lvl="1"/>
            <a:r>
              <a:rPr lang="zh-CN" altLang="en-US" dirty="0"/>
              <a:t>占</a:t>
            </a:r>
            <a:r>
              <a:rPr lang="en-US" altLang="zh-CN" dirty="0"/>
              <a:t>30</a:t>
            </a:r>
            <a:r>
              <a:rPr lang="zh-CN" altLang="en-US" dirty="0"/>
              <a:t>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208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121275"/>
          </a:xfrm>
        </p:spPr>
        <p:txBody>
          <a:bodyPr>
            <a:normAutofit fontScale="92500" lnSpcReduction="10000"/>
          </a:bodyPr>
          <a:lstStyle/>
          <a:p>
            <a:r>
              <a:rPr lang="zh-CN" altLang="zh-CN" dirty="0"/>
              <a:t>【需求分析】</a:t>
            </a:r>
          </a:p>
          <a:p>
            <a:pPr lvl="1"/>
            <a:r>
              <a:rPr lang="zh-CN" altLang="zh-CN" dirty="0"/>
              <a:t>认真阅读课程设计指导书中的题目描述，详细总结分析出课程设计题目的需求</a:t>
            </a:r>
            <a:endParaRPr lang="en-US" altLang="zh-CN" dirty="0"/>
          </a:p>
          <a:p>
            <a:pPr lvl="1"/>
            <a:r>
              <a:rPr lang="zh-CN" altLang="zh-CN" dirty="0"/>
              <a:t>需求分析部分至少应包括：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程序需要完成功能</a:t>
            </a:r>
            <a:endParaRPr lang="en-US" altLang="zh-CN" dirty="0"/>
          </a:p>
          <a:p>
            <a:pPr lvl="3"/>
            <a:r>
              <a:rPr lang="zh-CN" altLang="zh-CN" dirty="0"/>
              <a:t>题目明确要求的功能</a:t>
            </a:r>
            <a:endParaRPr lang="en-US" altLang="zh-CN" dirty="0"/>
          </a:p>
          <a:p>
            <a:pPr lvl="3"/>
            <a:r>
              <a:rPr lang="zh-CN" altLang="zh-CN" dirty="0"/>
              <a:t>为构建程序必须添加的管理功能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 需要处理的数据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程序开发运行选用的环境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CN" altLang="zh-CN" dirty="0"/>
              <a:t>用户界面的设计等</a:t>
            </a:r>
            <a:endParaRPr lang="en-US" altLang="zh-CN" dirty="0"/>
          </a:p>
          <a:p>
            <a:r>
              <a:rPr lang="zh-CN" altLang="zh-CN" dirty="0"/>
              <a:t>要求用简练、清晰的语言、图表等将课程设计的题目需求描述清楚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404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【数据结构设计】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en-US" dirty="0"/>
              <a:t>所</a:t>
            </a:r>
            <a:r>
              <a:rPr lang="zh-CN" altLang="zh-CN" dirty="0"/>
              <a:t>定义</a:t>
            </a:r>
            <a:r>
              <a:rPr lang="zh-CN" altLang="en-US" dirty="0"/>
              <a:t>的</a:t>
            </a:r>
            <a:r>
              <a:rPr lang="zh-CN" altLang="zh-CN" dirty="0"/>
              <a:t>主要数据结构</a:t>
            </a:r>
          </a:p>
          <a:p>
            <a:pPr marL="971550" lvl="1" indent="-514350">
              <a:buFont typeface="+mj-lt"/>
              <a:buAutoNum type="arabicPeriod"/>
            </a:pPr>
            <a:r>
              <a:rPr lang="zh-CN" altLang="zh-CN" dirty="0"/>
              <a:t>程序整体</a:t>
            </a:r>
            <a:r>
              <a:rPr lang="zh-CN" altLang="en-US" dirty="0"/>
              <a:t>的</a:t>
            </a:r>
            <a:r>
              <a:rPr lang="zh-CN" altLang="zh-CN" dirty="0"/>
              <a:t>结构</a:t>
            </a:r>
            <a:r>
              <a:rPr lang="zh-CN" altLang="en-US" dirty="0"/>
              <a:t>，</a:t>
            </a:r>
            <a:r>
              <a:rPr lang="zh-CN" altLang="zh-CN" dirty="0"/>
              <a:t>以及各模块的功能描述</a:t>
            </a:r>
          </a:p>
          <a:p>
            <a:endParaRPr lang="en-US" altLang="zh-CN" dirty="0"/>
          </a:p>
          <a:p>
            <a:r>
              <a:rPr lang="zh-CN" altLang="zh-CN" dirty="0"/>
              <a:t>【详细设计】</a:t>
            </a:r>
          </a:p>
          <a:p>
            <a:pPr lvl="1"/>
            <a:r>
              <a:rPr lang="zh-CN" altLang="zh-CN" dirty="0"/>
              <a:t>每个函数的流程图</a:t>
            </a:r>
            <a:r>
              <a:rPr lang="zh-CN" altLang="en-US" dirty="0"/>
              <a:t>和</a:t>
            </a:r>
            <a:r>
              <a:rPr lang="zh-CN" altLang="zh-CN" dirty="0"/>
              <a:t>局部的数据结构说明等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348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课程设计报告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lnSpcReduction="10000"/>
          </a:bodyPr>
          <a:lstStyle/>
          <a:p>
            <a:r>
              <a:rPr lang="zh-CN" altLang="zh-CN" dirty="0"/>
              <a:t>【测试】</a:t>
            </a:r>
          </a:p>
          <a:p>
            <a:pPr lvl="1"/>
            <a:r>
              <a:rPr lang="zh-CN" altLang="zh-CN" dirty="0"/>
              <a:t>所设计的用于整个程序的测试用例和测试结果</a:t>
            </a:r>
            <a:endParaRPr lang="en-US" altLang="zh-CN" dirty="0"/>
          </a:p>
          <a:p>
            <a:pPr lvl="1"/>
            <a:r>
              <a:rPr lang="zh-CN" altLang="zh-CN" dirty="0"/>
              <a:t>测试用例</a:t>
            </a:r>
            <a:endParaRPr lang="en-US" altLang="zh-CN" dirty="0"/>
          </a:p>
          <a:p>
            <a:pPr lvl="2"/>
            <a:r>
              <a:rPr lang="zh-CN" altLang="zh-CN" dirty="0"/>
              <a:t>正确运行程序的用例</a:t>
            </a:r>
            <a:endParaRPr lang="en-US" altLang="zh-CN" dirty="0"/>
          </a:p>
          <a:p>
            <a:pPr lvl="2"/>
            <a:r>
              <a:rPr lang="zh-CN" altLang="zh-CN" dirty="0"/>
              <a:t>导致程序运行错误的用例</a:t>
            </a:r>
            <a:endParaRPr lang="en-US" altLang="zh-CN" dirty="0"/>
          </a:p>
          <a:p>
            <a:pPr lvl="2"/>
            <a:r>
              <a:rPr lang="zh-CN" altLang="zh-CN" dirty="0"/>
              <a:t>边界数据的用例</a:t>
            </a:r>
            <a:r>
              <a:rPr lang="zh-CN" altLang="en-US" dirty="0"/>
              <a:t>等</a:t>
            </a:r>
            <a:endParaRPr lang="zh-CN" altLang="zh-CN" dirty="0"/>
          </a:p>
          <a:p>
            <a:r>
              <a:rPr lang="zh-CN" altLang="zh-CN" dirty="0"/>
              <a:t>【总结与提高】</a:t>
            </a:r>
          </a:p>
          <a:p>
            <a:pPr lvl="1"/>
            <a:r>
              <a:rPr lang="zh-CN" altLang="zh-CN" dirty="0"/>
              <a:t>同学依据自己的经历写出个性化的总结</a:t>
            </a:r>
            <a:endParaRPr lang="en-US" altLang="zh-CN" dirty="0"/>
          </a:p>
          <a:p>
            <a:pPr lvl="2"/>
            <a:r>
              <a:rPr lang="zh-CN" altLang="zh-CN" dirty="0"/>
              <a:t>程序开发中的体会与收获</a:t>
            </a:r>
            <a:endParaRPr lang="en-US" altLang="zh-CN" dirty="0"/>
          </a:p>
          <a:p>
            <a:pPr lvl="2"/>
            <a:r>
              <a:rPr lang="zh-CN" altLang="zh-CN" dirty="0"/>
              <a:t>开发中遇到的问题与解决情况</a:t>
            </a:r>
            <a:endParaRPr lang="en-US" altLang="zh-CN" dirty="0"/>
          </a:p>
          <a:p>
            <a:pPr lvl="2"/>
            <a:r>
              <a:rPr lang="zh-CN" altLang="zh-CN" dirty="0"/>
              <a:t>自己对自己完成课设情况的评价等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361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报告的要求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51304" cy="506916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标题分为三级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级标题 </a:t>
            </a:r>
            <a:r>
              <a:rPr lang="en-US" altLang="zh-CN" dirty="0"/>
              <a:t>	1</a:t>
            </a:r>
          </a:p>
          <a:p>
            <a:pPr lvl="2"/>
            <a:r>
              <a:rPr lang="zh-CN" altLang="en-US" dirty="0"/>
              <a:t>三号黑体，居中，与下行文字间距</a:t>
            </a:r>
            <a:r>
              <a:rPr lang="en-US" altLang="zh-CN" dirty="0"/>
              <a:t>12</a:t>
            </a:r>
            <a:r>
              <a:rPr lang="zh-CN" altLang="en-US" dirty="0"/>
              <a:t>磅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级标题</a:t>
            </a:r>
            <a:r>
              <a:rPr lang="en-US" altLang="zh-CN" dirty="0"/>
              <a:t>	1.1</a:t>
            </a:r>
          </a:p>
          <a:p>
            <a:pPr lvl="2"/>
            <a:r>
              <a:rPr lang="zh-CN" altLang="en-US" dirty="0"/>
              <a:t>四号黑体，左缩进两个汉字，与下行文字间距</a:t>
            </a:r>
            <a:r>
              <a:rPr lang="en-US" altLang="zh-CN" dirty="0"/>
              <a:t>6</a:t>
            </a:r>
            <a:r>
              <a:rPr lang="zh-CN" altLang="en-US" dirty="0"/>
              <a:t>磅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级标题</a:t>
            </a:r>
            <a:r>
              <a:rPr lang="en-US" altLang="zh-CN" dirty="0"/>
              <a:t>	1.1.1</a:t>
            </a:r>
          </a:p>
          <a:p>
            <a:pPr lvl="2"/>
            <a:r>
              <a:rPr lang="zh-CN" altLang="en-US" dirty="0"/>
              <a:t>小四号黑体，左缩进两个汉字，与下行文字间距</a:t>
            </a:r>
            <a:r>
              <a:rPr lang="en-US" altLang="zh-CN" dirty="0"/>
              <a:t>3</a:t>
            </a:r>
            <a:r>
              <a:rPr lang="zh-CN" altLang="en-US" dirty="0"/>
              <a:t>磅</a:t>
            </a:r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．正文</a:t>
            </a:r>
            <a:endParaRPr lang="en-US" altLang="zh-CN" dirty="0"/>
          </a:p>
          <a:p>
            <a:pPr lvl="1"/>
            <a:r>
              <a:rPr lang="zh-CN" altLang="en-US" dirty="0"/>
              <a:t>五号宋体，首行缩进两个汉字，两端对齐，行间单倍距</a:t>
            </a: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封面格式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参见“</a:t>
            </a:r>
            <a:r>
              <a:rPr lang="zh-CN" altLang="zh-CN" dirty="0"/>
              <a:t>《数据结构》课程设计报告要求</a:t>
            </a:r>
            <a:r>
              <a:rPr lang="zh-CN" altLang="en-US" dirty="0"/>
              <a:t>”文档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122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zh-CN" dirty="0"/>
              <a:t>报告的要求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65244" cy="4525963"/>
          </a:xfrm>
        </p:spPr>
        <p:txBody>
          <a:bodyPr/>
          <a:lstStyle/>
          <a:p>
            <a:r>
              <a:rPr lang="zh-CN" altLang="en-US" dirty="0"/>
              <a:t>报告封面</a:t>
            </a:r>
            <a:endParaRPr lang="en-US" altLang="zh-CN" dirty="0"/>
          </a:p>
          <a:p>
            <a:pPr lvl="1"/>
            <a:r>
              <a:rPr lang="zh-CN" altLang="en-US" dirty="0"/>
              <a:t>见右侧</a:t>
            </a:r>
            <a:endParaRPr lang="en-US" altLang="zh-CN" dirty="0"/>
          </a:p>
          <a:p>
            <a:r>
              <a:rPr lang="zh-CN" altLang="en-US" dirty="0"/>
              <a:t>报告页数</a:t>
            </a:r>
            <a:endParaRPr lang="en-US" altLang="zh-CN" dirty="0"/>
          </a:p>
          <a:p>
            <a:pPr lvl="1"/>
            <a:r>
              <a:rPr lang="zh-CN" altLang="en-US" dirty="0"/>
              <a:t>全部内容</a:t>
            </a:r>
            <a:endParaRPr lang="en-US" altLang="zh-CN" dirty="0"/>
          </a:p>
          <a:p>
            <a:pPr lvl="2"/>
            <a:r>
              <a:rPr lang="zh-CN" altLang="en-US" dirty="0"/>
              <a:t>最多</a:t>
            </a:r>
            <a:r>
              <a:rPr lang="en-US" altLang="zh-CN" dirty="0"/>
              <a:t>60</a:t>
            </a:r>
            <a:r>
              <a:rPr lang="zh-CN" altLang="en-US" dirty="0"/>
              <a:t>页</a:t>
            </a:r>
            <a:endParaRPr lang="en-US" altLang="zh-CN" dirty="0"/>
          </a:p>
          <a:p>
            <a:pPr lvl="1"/>
            <a:r>
              <a:rPr lang="zh-CN" altLang="en-US" dirty="0"/>
              <a:t>精炼报告内容</a:t>
            </a:r>
            <a:endParaRPr lang="en-US" altLang="zh-CN" dirty="0"/>
          </a:p>
          <a:p>
            <a:pPr lvl="1"/>
            <a:r>
              <a:rPr lang="zh-CN" altLang="en-US" dirty="0"/>
              <a:t>做到清晰明确</a:t>
            </a:r>
            <a:endParaRPr lang="en-US" altLang="zh-CN" dirty="0"/>
          </a:p>
          <a:p>
            <a:pPr lvl="1"/>
            <a:r>
              <a:rPr lang="zh-CN" altLang="en-US" dirty="0"/>
              <a:t>避免大水漫灌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19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EE9DBC-CC8C-D9AB-BE32-CCAC0CCBD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484" y="0"/>
            <a:ext cx="4998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6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具体见对应的课设题目文档</a:t>
            </a:r>
            <a:endParaRPr lang="en-US" altLang="zh-CN" sz="2800" dirty="0"/>
          </a:p>
          <a:p>
            <a:pPr lvl="1"/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题  医院门诊预约与智能导诊系统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题  电商物流配送路径规划系统</a:t>
            </a:r>
            <a:endParaRPr lang="en-US" altLang="zh-CN" sz="2400" dirty="0"/>
          </a:p>
          <a:p>
            <a:endParaRPr lang="en-US" altLang="zh-CN" sz="2800" dirty="0"/>
          </a:p>
          <a:p>
            <a:endParaRPr lang="zh-CN" altLang="zh-CN" sz="2800" dirty="0"/>
          </a:p>
          <a:p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F86A5-3950-49CE-927D-368DF62DB604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188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D624BA0F-3D9C-4D5B-B65E-A257A97E781C}" vid="{2D4396FE-966C-4994-A69E-74176F0E8B9C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_PPT母版4-3</Template>
  <TotalTime>269</TotalTime>
  <Words>1265</Words>
  <Application>Microsoft Office PowerPoint</Application>
  <PresentationFormat>全屏显示(4:3)</PresentationFormat>
  <Paragraphs>191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主题</vt:lpstr>
      <vt:lpstr>数据结构课程设计</vt:lpstr>
      <vt:lpstr>课程设计目的</vt:lpstr>
      <vt:lpstr>课程设计方式</vt:lpstr>
      <vt:lpstr>课程设计阶段</vt:lpstr>
      <vt:lpstr>课程设计过程</vt:lpstr>
      <vt:lpstr>完成课程设计任务的过程</vt:lpstr>
      <vt:lpstr>课程设计要求</vt:lpstr>
      <vt:lpstr>课程设计要求</vt:lpstr>
      <vt:lpstr>课程设计要求</vt:lpstr>
      <vt:lpstr>其他要求</vt:lpstr>
      <vt:lpstr>其他要求</vt:lpstr>
      <vt:lpstr>课程设计安排</vt:lpstr>
      <vt:lpstr>课程设计安排</vt:lpstr>
      <vt:lpstr>课程设计报告</vt:lpstr>
      <vt:lpstr>课程设计报告</vt:lpstr>
      <vt:lpstr>课程设计报告</vt:lpstr>
      <vt:lpstr>课程设计报告</vt:lpstr>
      <vt:lpstr>报告的要求</vt:lpstr>
      <vt:lpstr>报告的要求</vt:lpstr>
      <vt:lpstr>题目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数据结构课程设计</dc:title>
  <dc:creator>suhang</dc:creator>
  <cp:lastModifiedBy>航 苏</cp:lastModifiedBy>
  <cp:revision>63</cp:revision>
  <dcterms:created xsi:type="dcterms:W3CDTF">2018-09-02T07:05:16Z</dcterms:created>
  <dcterms:modified xsi:type="dcterms:W3CDTF">2026-09-10T09:40:58Z</dcterms:modified>
</cp:coreProperties>
</file>